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71" r:id="rId2"/>
    <p:sldId id="261" r:id="rId3"/>
    <p:sldId id="268" r:id="rId4"/>
    <p:sldId id="258" r:id="rId5"/>
    <p:sldId id="259" r:id="rId6"/>
    <p:sldId id="263" r:id="rId7"/>
    <p:sldId id="269" r:id="rId8"/>
    <p:sldId id="270" r:id="rId9"/>
    <p:sldId id="272" r:id="rId10"/>
  </p:sldIdLst>
  <p:sldSz cx="9144000" cy="5143500" type="screen16x9"/>
  <p:notesSz cx="6858000" cy="9144000"/>
  <p:embeddedFontLst>
    <p:embeddedFont>
      <p:font typeface="Open Sans" panose="020B060603050402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64AA"/>
    <a:srgbClr val="A0CC3A"/>
    <a:srgbClr val="6091BA"/>
    <a:srgbClr val="F8A8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50"/>
    <p:restoredTop sz="94769"/>
  </p:normalViewPr>
  <p:slideViewPr>
    <p:cSldViewPr snapToGrid="0">
      <p:cViewPr varScale="1">
        <p:scale>
          <a:sx n="157" d="100"/>
          <a:sy n="157" d="100"/>
        </p:scale>
        <p:origin x="184" y="11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2</a:t>
            </a:fld>
            <a:endParaRPr lang="en-US" dirty="0"/>
          </a:p>
        </p:txBody>
      </p:sp>
    </p:spTree>
    <p:extLst>
      <p:ext uri="{BB962C8B-B14F-4D97-AF65-F5344CB8AC3E}">
        <p14:creationId xmlns:p14="http://schemas.microsoft.com/office/powerpoint/2010/main" val="2987402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3</a:t>
            </a:fld>
            <a:endParaRPr lang="en-US" dirty="0"/>
          </a:p>
        </p:txBody>
      </p:sp>
    </p:spTree>
    <p:extLst>
      <p:ext uri="{BB962C8B-B14F-4D97-AF65-F5344CB8AC3E}">
        <p14:creationId xmlns:p14="http://schemas.microsoft.com/office/powerpoint/2010/main" val="957786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5</a:t>
            </a:fld>
            <a:endParaRPr lang="en-US" dirty="0"/>
          </a:p>
        </p:txBody>
      </p:sp>
    </p:spTree>
    <p:extLst>
      <p:ext uri="{BB962C8B-B14F-4D97-AF65-F5344CB8AC3E}">
        <p14:creationId xmlns:p14="http://schemas.microsoft.com/office/powerpoint/2010/main" val="1521430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6</a:t>
            </a:fld>
            <a:endParaRPr lang="en-US" dirty="0"/>
          </a:p>
        </p:txBody>
      </p:sp>
    </p:spTree>
    <p:extLst>
      <p:ext uri="{BB962C8B-B14F-4D97-AF65-F5344CB8AC3E}">
        <p14:creationId xmlns:p14="http://schemas.microsoft.com/office/powerpoint/2010/main" val="2499690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7</a:t>
            </a:fld>
            <a:endParaRPr lang="en-US" dirty="0"/>
          </a:p>
        </p:txBody>
      </p:sp>
    </p:spTree>
    <p:extLst>
      <p:ext uri="{BB962C8B-B14F-4D97-AF65-F5344CB8AC3E}">
        <p14:creationId xmlns:p14="http://schemas.microsoft.com/office/powerpoint/2010/main" val="2309464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E0E245-C9C7-DD48-8600-78FCBB717662}" type="slidenum">
              <a:rPr lang="en-US" smtClean="0"/>
              <a:t>8</a:t>
            </a:fld>
            <a:endParaRPr lang="en-US" dirty="0"/>
          </a:p>
        </p:txBody>
      </p:sp>
    </p:spTree>
    <p:extLst>
      <p:ext uri="{BB962C8B-B14F-4D97-AF65-F5344CB8AC3E}">
        <p14:creationId xmlns:p14="http://schemas.microsoft.com/office/powerpoint/2010/main" val="2986999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89D57C-BAB8-4B4F-8A75-B323177F8311}" type="datetimeFigureOut">
              <a:rPr lang="en-US" smtClean="0"/>
              <a:t>7/8/26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3A0EE1-C743-8A4F-A56B-16B8AC5D30D1}" type="slidenum">
              <a:rPr lang="en-US" smtClean="0"/>
              <a:t>‹#›</a:t>
            </a:fld>
            <a:endParaRPr lang="en-US" dirty="0"/>
          </a:p>
        </p:txBody>
      </p:sp>
    </p:spTree>
    <p:extLst>
      <p:ext uri="{BB962C8B-B14F-4D97-AF65-F5344CB8AC3E}">
        <p14:creationId xmlns:p14="http://schemas.microsoft.com/office/powerpoint/2010/main" val="299518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sfu.ca/" TargetMode="External"/><Relationship Id="rId2" Type="http://schemas.openxmlformats.org/officeDocument/2006/relationships/hyperlink" Target="https://www.sfu.ca/bpk.html" TargetMode="Externa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824A2-C4D2-9F94-FE35-A703488CD845}"/>
              </a:ext>
            </a:extLst>
          </p:cNvPr>
          <p:cNvSpPr>
            <a:spLocks noGrp="1"/>
          </p:cNvSpPr>
          <p:nvPr>
            <p:ph type="title"/>
          </p:nvPr>
        </p:nvSpPr>
        <p:spPr/>
        <p:txBody>
          <a:bodyPr/>
          <a:lstStyle/>
          <a:p>
            <a:r>
              <a:rPr lang="en-US" b="1" dirty="0" err="1"/>
              <a:t>ElectroMioGraphy</a:t>
            </a:r>
            <a:endParaRPr lang="en-US" b="1" dirty="0"/>
          </a:p>
        </p:txBody>
      </p:sp>
      <p:sp>
        <p:nvSpPr>
          <p:cNvPr id="3" name="TextBox 2">
            <a:extLst>
              <a:ext uri="{FF2B5EF4-FFF2-40B4-BE49-F238E27FC236}">
                <a16:creationId xmlns:a16="http://schemas.microsoft.com/office/drawing/2014/main" id="{3CA509B0-6723-A4CB-CCA9-7F525464198A}"/>
              </a:ext>
            </a:extLst>
          </p:cNvPr>
          <p:cNvSpPr txBox="1"/>
          <p:nvPr/>
        </p:nvSpPr>
        <p:spPr>
          <a:xfrm>
            <a:off x="3022535" y="2961873"/>
            <a:ext cx="3098925" cy="338554"/>
          </a:xfrm>
          <a:prstGeom prst="rect">
            <a:avLst/>
          </a:prstGeom>
          <a:noFill/>
        </p:spPr>
        <p:txBody>
          <a:bodyPr wrap="none" rtlCol="0">
            <a:spAutoFit/>
          </a:bodyPr>
          <a:lstStyle/>
          <a:p>
            <a:r>
              <a:rPr lang="en-US" sz="1600" dirty="0"/>
              <a:t>An example of biological signals</a:t>
            </a:r>
          </a:p>
        </p:txBody>
      </p:sp>
      <p:sp>
        <p:nvSpPr>
          <p:cNvPr id="4" name="TextBox 3">
            <a:extLst>
              <a:ext uri="{FF2B5EF4-FFF2-40B4-BE49-F238E27FC236}">
                <a16:creationId xmlns:a16="http://schemas.microsoft.com/office/drawing/2014/main" id="{2DA6039D-6FF6-2B0D-32B6-437E6693A426}"/>
              </a:ext>
            </a:extLst>
          </p:cNvPr>
          <p:cNvSpPr txBox="1"/>
          <p:nvPr/>
        </p:nvSpPr>
        <p:spPr>
          <a:xfrm>
            <a:off x="0" y="4365902"/>
            <a:ext cx="6354625" cy="954107"/>
          </a:xfrm>
          <a:prstGeom prst="rect">
            <a:avLst/>
          </a:prstGeom>
          <a:noFill/>
        </p:spPr>
        <p:txBody>
          <a:bodyPr wrap="none" rtlCol="0">
            <a:spAutoFit/>
          </a:bodyPr>
          <a:lstStyle/>
          <a:p>
            <a:r>
              <a:rPr lang="en-CA" b="1" dirty="0"/>
              <a:t>Dr. Santiago Flores</a:t>
            </a:r>
            <a:br>
              <a:rPr lang="en-CA" dirty="0"/>
            </a:br>
            <a:r>
              <a:rPr lang="en-CA" dirty="0"/>
              <a:t>Postdoctoral Fellow  </a:t>
            </a:r>
          </a:p>
          <a:p>
            <a:r>
              <a:rPr lang="en-CA" dirty="0">
                <a:hlinkClick r:id="rId2"/>
              </a:rPr>
              <a:t>Department of Biomedical Physiology &amp; Kinesiology</a:t>
            </a:r>
            <a:r>
              <a:rPr lang="en-CA" dirty="0"/>
              <a:t> | </a:t>
            </a:r>
            <a:r>
              <a:rPr lang="en-CA" dirty="0">
                <a:hlinkClick r:id="rId3"/>
              </a:rPr>
              <a:t>Simon Fraser University</a:t>
            </a:r>
            <a:endParaRPr lang="en-CA" dirty="0"/>
          </a:p>
          <a:p>
            <a:endParaRPr lang="en-US" dirty="0"/>
          </a:p>
        </p:txBody>
      </p:sp>
      <p:pic>
        <p:nvPicPr>
          <p:cNvPr id="5" name="Picture 4" descr="Simon Fraser University - BC Transfer Guide">
            <a:extLst>
              <a:ext uri="{FF2B5EF4-FFF2-40B4-BE49-F238E27FC236}">
                <a16:creationId xmlns:a16="http://schemas.microsoft.com/office/drawing/2014/main" id="{676C1D68-4CDE-4376-4926-55A3B9170F0D}"/>
              </a:ext>
            </a:extLst>
          </p:cNvPr>
          <p:cNvPicPr>
            <a:picLocks noChangeAspect="1"/>
          </p:cNvPicPr>
          <p:nvPr/>
        </p:nvPicPr>
        <p:blipFill>
          <a:blip r:embed="rId4"/>
          <a:stretch>
            <a:fillRect/>
          </a:stretch>
        </p:blipFill>
        <p:spPr>
          <a:xfrm>
            <a:off x="0" y="0"/>
            <a:ext cx="2451887" cy="1225944"/>
          </a:xfrm>
          <a:prstGeom prst="rect">
            <a:avLst/>
          </a:prstGeom>
        </p:spPr>
      </p:pic>
      <p:pic>
        <p:nvPicPr>
          <p:cNvPr id="6" name="Picture 5">
            <a:extLst>
              <a:ext uri="{FF2B5EF4-FFF2-40B4-BE49-F238E27FC236}">
                <a16:creationId xmlns:a16="http://schemas.microsoft.com/office/drawing/2014/main" id="{F56B201A-0588-9404-4873-6DEEED1EBCD1}"/>
              </a:ext>
            </a:extLst>
          </p:cNvPr>
          <p:cNvPicPr>
            <a:picLocks noChangeAspect="1"/>
          </p:cNvPicPr>
          <p:nvPr/>
        </p:nvPicPr>
        <p:blipFill>
          <a:blip r:embed="rId5"/>
          <a:stretch>
            <a:fillRect/>
          </a:stretch>
        </p:blipFill>
        <p:spPr>
          <a:xfrm>
            <a:off x="6692115" y="0"/>
            <a:ext cx="2476500" cy="1574800"/>
          </a:xfrm>
          <a:prstGeom prst="rect">
            <a:avLst/>
          </a:prstGeom>
        </p:spPr>
      </p:pic>
    </p:spTree>
    <p:extLst>
      <p:ext uri="{BB962C8B-B14F-4D97-AF65-F5344CB8AC3E}">
        <p14:creationId xmlns:p14="http://schemas.microsoft.com/office/powerpoint/2010/main" val="3332429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B9F2-B027-1D46-83D6-EF907B814E40}"/>
              </a:ext>
            </a:extLst>
          </p:cNvPr>
          <p:cNvSpPr>
            <a:spLocks noGrp="1"/>
          </p:cNvSpPr>
          <p:nvPr>
            <p:ph type="title"/>
          </p:nvPr>
        </p:nvSpPr>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What is an EMG?</a:t>
            </a:r>
          </a:p>
        </p:txBody>
      </p:sp>
      <p:sp>
        <p:nvSpPr>
          <p:cNvPr id="3" name="Content Placeholder 2">
            <a:extLst>
              <a:ext uri="{FF2B5EF4-FFF2-40B4-BE49-F238E27FC236}">
                <a16:creationId xmlns:a16="http://schemas.microsoft.com/office/drawing/2014/main" id="{AFF34A61-2953-9940-BB91-3084C73878A6}"/>
              </a:ext>
            </a:extLst>
          </p:cNvPr>
          <p:cNvSpPr>
            <a:spLocks noGrp="1"/>
          </p:cNvSpPr>
          <p:nvPr>
            <p:ph idx="1"/>
          </p:nvPr>
        </p:nvSpPr>
        <p:spPr>
          <a:xfrm>
            <a:off x="608773" y="1165547"/>
            <a:ext cx="7886700" cy="1519278"/>
          </a:xfrm>
        </p:spPr>
        <p:txBody>
          <a:bodyPr>
            <a:normAutofit/>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EMG, which is an </a:t>
            </a:r>
            <a:r>
              <a:rPr lang="en-US"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electrophysiologiocal</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technique for evaluating and recording the electrical activity produced by skeletal muscles.</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We use them to assess the health of muscles and the nerve cells that help control them.</a:t>
            </a:r>
          </a:p>
          <a:p>
            <a:pPr marL="342900" lvl="1" indent="0">
              <a:buNone/>
            </a:pPr>
            <a:endParaRPr lang="en-US" dirty="0"/>
          </a:p>
        </p:txBody>
      </p:sp>
      <p:sp>
        <p:nvSpPr>
          <p:cNvPr id="7" name="Rectangle 6">
            <a:extLst>
              <a:ext uri="{FF2B5EF4-FFF2-40B4-BE49-F238E27FC236}">
                <a16:creationId xmlns:a16="http://schemas.microsoft.com/office/drawing/2014/main" id="{FEB17F7E-2BF5-5C45-A618-2537B5B65F00}"/>
              </a:ext>
            </a:extLst>
          </p:cNvPr>
          <p:cNvSpPr/>
          <p:nvPr/>
        </p:nvSpPr>
        <p:spPr>
          <a:xfrm>
            <a:off x="5025758" y="4632722"/>
            <a:ext cx="3236144" cy="323165"/>
          </a:xfrm>
          <a:prstGeom prst="rect">
            <a:avLst/>
          </a:prstGeom>
        </p:spPr>
        <p:txBody>
          <a:bodyPr wrap="square">
            <a:spAutoFit/>
          </a:bodyPr>
          <a:lstStyle/>
          <a:p>
            <a:r>
              <a:rPr lang="en-US" sz="750" dirty="0">
                <a:latin typeface="Open Sans" panose="020B0606030504020204" pitchFamily="34" charset="0"/>
                <a:ea typeface="Open Sans" panose="020B0606030504020204" pitchFamily="34" charset="0"/>
                <a:cs typeface="Open Sans" panose="020B0606030504020204" pitchFamily="34" charset="0"/>
              </a:rPr>
              <a:t>https://www.hopkinsmedicine.org/health/treatment-tests-and-therapies/electromyography-emg</a:t>
            </a:r>
            <a:endParaRPr lang="en-US" sz="75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A picture containing person, indoor, sitting, woman&#10;&#10;Description automatically generated">
            <a:extLst>
              <a:ext uri="{FF2B5EF4-FFF2-40B4-BE49-F238E27FC236}">
                <a16:creationId xmlns:a16="http://schemas.microsoft.com/office/drawing/2014/main" id="{7D19D77C-8D2F-4685-97F2-C72ACCE10F66}"/>
              </a:ext>
            </a:extLst>
          </p:cNvPr>
          <p:cNvPicPr>
            <a:picLocks noChangeAspect="1"/>
          </p:cNvPicPr>
          <p:nvPr/>
        </p:nvPicPr>
        <p:blipFill rotWithShape="1">
          <a:blip r:embed="rId3"/>
          <a:srcRect l="8163" r="14661"/>
          <a:stretch/>
        </p:blipFill>
        <p:spPr>
          <a:xfrm>
            <a:off x="4735995" y="2582354"/>
            <a:ext cx="3525907" cy="2050368"/>
          </a:xfrm>
          <a:prstGeom prst="rect">
            <a:avLst/>
          </a:prstGeom>
        </p:spPr>
      </p:pic>
      <p:sp>
        <p:nvSpPr>
          <p:cNvPr id="9" name="Content Placeholder 2">
            <a:extLst>
              <a:ext uri="{FF2B5EF4-FFF2-40B4-BE49-F238E27FC236}">
                <a16:creationId xmlns:a16="http://schemas.microsoft.com/office/drawing/2014/main" id="{1D6B5F58-49D7-43FB-B855-EC76D54E17BA}"/>
              </a:ext>
            </a:extLst>
          </p:cNvPr>
          <p:cNvSpPr txBox="1">
            <a:spLocks/>
          </p:cNvSpPr>
          <p:nvPr/>
        </p:nvSpPr>
        <p:spPr>
          <a:xfrm>
            <a:off x="608773" y="2816888"/>
            <a:ext cx="3853897" cy="1519278"/>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08966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BEA7-3567-4D39-BE3C-E9BF2EF1603A}"/>
              </a:ext>
            </a:extLst>
          </p:cNvPr>
          <p:cNvSpPr>
            <a:spLocks noGrp="1"/>
          </p:cNvSpPr>
          <p:nvPr>
            <p:ph type="title"/>
          </p:nvPr>
        </p:nvSpPr>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What does an EMG measure?</a:t>
            </a:r>
          </a:p>
        </p:txBody>
      </p:sp>
      <p:sp>
        <p:nvSpPr>
          <p:cNvPr id="3" name="Content Placeholder 2">
            <a:extLst>
              <a:ext uri="{FF2B5EF4-FFF2-40B4-BE49-F238E27FC236}">
                <a16:creationId xmlns:a16="http://schemas.microsoft.com/office/drawing/2014/main" id="{0E76F2E1-801D-4B8C-B8F5-3721FDDEE77F}"/>
              </a:ext>
            </a:extLst>
          </p:cNvPr>
          <p:cNvSpPr>
            <a:spLocks noGrp="1"/>
          </p:cNvSpPr>
          <p:nvPr>
            <p:ph idx="1"/>
          </p:nvPr>
        </p:nvSpPr>
        <p:spPr>
          <a:xfrm>
            <a:off x="628650" y="1126487"/>
            <a:ext cx="7670524" cy="3263504"/>
          </a:xfrm>
        </p:spPr>
        <p:txBody>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Your muscles move when (electrochemical) nerve signals from your Central Nervous System (CNS) tell them to work. An EMG is used to measure the muscles respond to these signals.</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electrodes in an EMG device are used to measure the electrical activity caused at different levels of muscle contraction: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rest</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slight contraction</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and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forceful contraction</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pic>
        <p:nvPicPr>
          <p:cNvPr id="5" name="Picture 4" descr="A close up of electronics&#10;&#10;Description automatically generated">
            <a:extLst>
              <a:ext uri="{FF2B5EF4-FFF2-40B4-BE49-F238E27FC236}">
                <a16:creationId xmlns:a16="http://schemas.microsoft.com/office/drawing/2014/main" id="{918B689E-1CE9-45F3-BEC7-1406B30769EE}"/>
              </a:ext>
            </a:extLst>
          </p:cNvPr>
          <p:cNvPicPr>
            <a:picLocks noChangeAspect="1"/>
          </p:cNvPicPr>
          <p:nvPr/>
        </p:nvPicPr>
        <p:blipFill>
          <a:blip r:embed="rId3"/>
          <a:stretch>
            <a:fillRect/>
          </a:stretch>
        </p:blipFill>
        <p:spPr>
          <a:xfrm>
            <a:off x="6133535" y="3020567"/>
            <a:ext cx="2640578" cy="1992890"/>
          </a:xfrm>
          <a:prstGeom prst="rect">
            <a:avLst/>
          </a:prstGeom>
        </p:spPr>
      </p:pic>
      <p:sp>
        <p:nvSpPr>
          <p:cNvPr id="6" name="Rectangle 5">
            <a:extLst>
              <a:ext uri="{FF2B5EF4-FFF2-40B4-BE49-F238E27FC236}">
                <a16:creationId xmlns:a16="http://schemas.microsoft.com/office/drawing/2014/main" id="{BDA57405-796B-4171-AF93-39AF1C0122D7}"/>
              </a:ext>
            </a:extLst>
          </p:cNvPr>
          <p:cNvSpPr/>
          <p:nvPr/>
        </p:nvSpPr>
        <p:spPr>
          <a:xfrm>
            <a:off x="6232788" y="4760330"/>
            <a:ext cx="2442071" cy="323165"/>
          </a:xfrm>
          <a:prstGeom prst="rect">
            <a:avLst/>
          </a:prstGeom>
        </p:spPr>
        <p:txBody>
          <a:bodyPr wrap="square">
            <a:spAutoFit/>
          </a:bodyPr>
          <a:lstStyle/>
          <a:p>
            <a:r>
              <a:rPr lang="en-US" sz="750" dirty="0">
                <a:latin typeface="Open Sans" panose="020B0606030504020204" pitchFamily="34" charset="0"/>
                <a:ea typeface="Open Sans" panose="020B0606030504020204" pitchFamily="34" charset="0"/>
                <a:cs typeface="Open Sans" panose="020B0606030504020204" pitchFamily="34" charset="0"/>
              </a:rPr>
              <a:t>https://www.amazon.com/Siglent-Technologies-SDS1202X-Oscilloscope-Channels/dp/B07PVZMV16</a:t>
            </a:r>
            <a:endParaRPr lang="en-US" sz="75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descr="Neuromuscular junction">
            <a:extLst>
              <a:ext uri="{FF2B5EF4-FFF2-40B4-BE49-F238E27FC236}">
                <a16:creationId xmlns:a16="http://schemas.microsoft.com/office/drawing/2014/main" id="{4FEFEF84-9714-773E-15D0-3F72185AF6C3}"/>
              </a:ext>
            </a:extLst>
          </p:cNvPr>
          <p:cNvPicPr>
            <a:picLocks noChangeAspect="1"/>
          </p:cNvPicPr>
          <p:nvPr/>
        </p:nvPicPr>
        <p:blipFill>
          <a:blip r:embed="rId4"/>
          <a:stretch>
            <a:fillRect/>
          </a:stretch>
        </p:blipFill>
        <p:spPr>
          <a:xfrm>
            <a:off x="3616835" y="3014219"/>
            <a:ext cx="2349455" cy="1836677"/>
          </a:xfrm>
          <a:prstGeom prst="rect">
            <a:avLst/>
          </a:prstGeom>
        </p:spPr>
      </p:pic>
    </p:spTree>
    <p:extLst>
      <p:ext uri="{BB962C8B-B14F-4D97-AF65-F5344CB8AC3E}">
        <p14:creationId xmlns:p14="http://schemas.microsoft.com/office/powerpoint/2010/main" val="3331862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DFC7-6C55-F049-AB6C-A727C3ABB289}"/>
              </a:ext>
            </a:extLst>
          </p:cNvPr>
          <p:cNvSpPr>
            <a:spLocks noGrp="1"/>
          </p:cNvSpPr>
          <p:nvPr>
            <p:ph type="title"/>
          </p:nvPr>
        </p:nvSpPr>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EMG Waves</a:t>
            </a:r>
          </a:p>
        </p:txBody>
      </p:sp>
      <p:sp>
        <p:nvSpPr>
          <p:cNvPr id="3" name="Content Placeholder 2">
            <a:extLst>
              <a:ext uri="{FF2B5EF4-FFF2-40B4-BE49-F238E27FC236}">
                <a16:creationId xmlns:a16="http://schemas.microsoft.com/office/drawing/2014/main" id="{FB911AF3-5EEC-684B-BB78-0F5BB2925396}"/>
              </a:ext>
            </a:extLst>
          </p:cNvPr>
          <p:cNvSpPr>
            <a:spLocks noGrp="1"/>
          </p:cNvSpPr>
          <p:nvPr>
            <p:ph idx="1"/>
          </p:nvPr>
        </p:nvSpPr>
        <p:spPr>
          <a:xfrm>
            <a:off x="628650" y="1198486"/>
            <a:ext cx="7886700" cy="3434237"/>
          </a:xfrm>
        </p:spPr>
        <p:txBody>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 size and shape of a wave, which represents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activation of motor units</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gives information about how the muscle activity and health.</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 healthy muscle will show no electrical activity during rest, meaning it will not show any signs of an action potential. It will only show electric activity when the muscle moves or contracts.</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When you contract your muscle more forcefully, more and more muscle fibers are activated, making more action potentials.</a:t>
            </a:r>
          </a:p>
        </p:txBody>
      </p:sp>
    </p:spTree>
    <p:extLst>
      <p:ext uri="{BB962C8B-B14F-4D97-AF65-F5344CB8AC3E}">
        <p14:creationId xmlns:p14="http://schemas.microsoft.com/office/powerpoint/2010/main" val="116821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DFC7-6C55-F049-AB6C-A727C3ABB289}"/>
              </a:ext>
            </a:extLst>
          </p:cNvPr>
          <p:cNvSpPr>
            <a:spLocks noGrp="1"/>
          </p:cNvSpPr>
          <p:nvPr>
            <p:ph type="title"/>
          </p:nvPr>
        </p:nvSpPr>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EMG Waves</a:t>
            </a:r>
          </a:p>
        </p:txBody>
      </p:sp>
      <p:sp>
        <p:nvSpPr>
          <p:cNvPr id="3" name="Content Placeholder 2">
            <a:extLst>
              <a:ext uri="{FF2B5EF4-FFF2-40B4-BE49-F238E27FC236}">
                <a16:creationId xmlns:a16="http://schemas.microsoft.com/office/drawing/2014/main" id="{FB911AF3-5EEC-684B-BB78-0F5BB2925396}"/>
              </a:ext>
            </a:extLst>
          </p:cNvPr>
          <p:cNvSpPr>
            <a:spLocks noGrp="1"/>
          </p:cNvSpPr>
          <p:nvPr>
            <p:ph idx="1"/>
          </p:nvPr>
        </p:nvSpPr>
        <p:spPr>
          <a:xfrm>
            <a:off x="628650" y="1133977"/>
            <a:ext cx="7886700" cy="3263504"/>
          </a:xfrm>
        </p:spPr>
        <p:txBody>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Here, you can see how the activity of a normal muscle is represented.</a:t>
            </a:r>
          </a:p>
        </p:txBody>
      </p:sp>
      <p:sp>
        <p:nvSpPr>
          <p:cNvPr id="7" name="Rectangle 6">
            <a:extLst>
              <a:ext uri="{FF2B5EF4-FFF2-40B4-BE49-F238E27FC236}">
                <a16:creationId xmlns:a16="http://schemas.microsoft.com/office/drawing/2014/main" id="{9E4E1BCF-5346-684D-98E6-2BE26B4D1BE4}"/>
              </a:ext>
            </a:extLst>
          </p:cNvPr>
          <p:cNvSpPr/>
          <p:nvPr/>
        </p:nvSpPr>
        <p:spPr>
          <a:xfrm>
            <a:off x="2607960" y="4377464"/>
            <a:ext cx="3578224" cy="207749"/>
          </a:xfrm>
          <a:prstGeom prst="rect">
            <a:avLst/>
          </a:prstGeom>
        </p:spPr>
        <p:txBody>
          <a:bodyPr wrap="none">
            <a:spAutoFit/>
          </a:bodyPr>
          <a:lstStyle/>
          <a:p>
            <a:r>
              <a:rPr lang="en-US" sz="750" dirty="0">
                <a:latin typeface="Open Sans" panose="020B0606030504020204" pitchFamily="34" charset="0"/>
                <a:ea typeface="Open Sans" panose="020B0606030504020204" pitchFamily="34" charset="0"/>
                <a:cs typeface="Open Sans" panose="020B0606030504020204" pitchFamily="34" charset="0"/>
              </a:rPr>
              <a:t>https://neurology.mhmedical.com/data/books/1844/demyer8_ch7_f021.png</a:t>
            </a:r>
            <a:endParaRPr lang="en-US" sz="75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descr="A screenshot of a cell phone&#10;&#10;Description automatically generated">
            <a:extLst>
              <a:ext uri="{FF2B5EF4-FFF2-40B4-BE49-F238E27FC236}">
                <a16:creationId xmlns:a16="http://schemas.microsoft.com/office/drawing/2014/main" id="{A1C4231B-DCAD-4272-8508-C45F4C1019AC}"/>
              </a:ext>
            </a:extLst>
          </p:cNvPr>
          <p:cNvPicPr>
            <a:picLocks noChangeAspect="1"/>
          </p:cNvPicPr>
          <p:nvPr/>
        </p:nvPicPr>
        <p:blipFill>
          <a:blip r:embed="rId3"/>
          <a:stretch>
            <a:fillRect/>
          </a:stretch>
        </p:blipFill>
        <p:spPr>
          <a:xfrm>
            <a:off x="1760708" y="2126477"/>
            <a:ext cx="5272728" cy="2103289"/>
          </a:xfrm>
          <a:prstGeom prst="rect">
            <a:avLst/>
          </a:prstGeom>
        </p:spPr>
      </p:pic>
    </p:spTree>
    <p:extLst>
      <p:ext uri="{BB962C8B-B14F-4D97-AF65-F5344CB8AC3E}">
        <p14:creationId xmlns:p14="http://schemas.microsoft.com/office/powerpoint/2010/main" val="3209749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DFC7-6C55-F049-AB6C-A727C3ABB289}"/>
              </a:ext>
            </a:extLst>
          </p:cNvPr>
          <p:cNvSpPr>
            <a:spLocks noGrp="1"/>
          </p:cNvSpPr>
          <p:nvPr>
            <p:ph type="title"/>
          </p:nvPr>
        </p:nvSpPr>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What is a motor neuron?</a:t>
            </a:r>
          </a:p>
        </p:txBody>
      </p:sp>
      <p:sp>
        <p:nvSpPr>
          <p:cNvPr id="3" name="Content Placeholder 2">
            <a:extLst>
              <a:ext uri="{FF2B5EF4-FFF2-40B4-BE49-F238E27FC236}">
                <a16:creationId xmlns:a16="http://schemas.microsoft.com/office/drawing/2014/main" id="{FB911AF3-5EEC-684B-BB78-0F5BB2925396}"/>
              </a:ext>
            </a:extLst>
          </p:cNvPr>
          <p:cNvSpPr>
            <a:spLocks noGrp="1"/>
          </p:cNvSpPr>
          <p:nvPr>
            <p:ph idx="1"/>
          </p:nvPr>
        </p:nvSpPr>
        <p:spPr>
          <a:xfrm>
            <a:off x="628650" y="1213290"/>
            <a:ext cx="7886700" cy="3232963"/>
          </a:xfrm>
        </p:spPr>
        <p:txBody>
          <a:bodyPr>
            <a:normAutofit/>
          </a:bodyPr>
          <a:lstStyle/>
          <a:p>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motor neuron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is a neuron that carries information from the central nervous system to the muscles throughout our bodies.</a:t>
            </a:r>
          </a:p>
          <a:p>
            <a:pPr lvl="1"/>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They are specialized cells that enable us to move by relaying information from our brains to our muscles in the form of electric signals called </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action potentials</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 such as when to contract and move.</a:t>
            </a:r>
          </a:p>
        </p:txBody>
      </p:sp>
      <p:sp>
        <p:nvSpPr>
          <p:cNvPr id="5" name="Rectangle 4">
            <a:extLst>
              <a:ext uri="{FF2B5EF4-FFF2-40B4-BE49-F238E27FC236}">
                <a16:creationId xmlns:a16="http://schemas.microsoft.com/office/drawing/2014/main" id="{336C98DB-06C0-2443-993D-B186E30F2DF2}"/>
              </a:ext>
            </a:extLst>
          </p:cNvPr>
          <p:cNvSpPr/>
          <p:nvPr/>
        </p:nvSpPr>
        <p:spPr>
          <a:xfrm>
            <a:off x="5473084" y="4696532"/>
            <a:ext cx="2017450" cy="369332"/>
          </a:xfrm>
          <a:prstGeom prst="rect">
            <a:avLst/>
          </a:prstGeom>
        </p:spPr>
        <p:txBody>
          <a:bodyPr wrap="square">
            <a:spAutoFit/>
          </a:bodyPr>
          <a:lstStyle/>
          <a:p>
            <a:r>
              <a:rPr lang="en-US" sz="600" dirty="0">
                <a:latin typeface="Open Sans" panose="020B0606030504020204" pitchFamily="34" charset="0"/>
                <a:ea typeface="Open Sans" panose="020B0606030504020204" pitchFamily="34" charset="0"/>
                <a:cs typeface="Open Sans" panose="020B0606030504020204" pitchFamily="34" charset="0"/>
              </a:rPr>
              <a:t>https://smanewstoday.com/2017/09/12/sam-research-may-get-boost-from-study-using-skin-cells-to-create-human-motor-neurons</a:t>
            </a:r>
            <a:endParaRPr lang="en-US" sz="6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A close up of text on a white background&#10;&#10;Description automatically generated">
            <a:extLst>
              <a:ext uri="{FF2B5EF4-FFF2-40B4-BE49-F238E27FC236}">
                <a16:creationId xmlns:a16="http://schemas.microsoft.com/office/drawing/2014/main" id="{9CC87957-11AE-4A77-9D27-17E22F06EEC5}"/>
              </a:ext>
            </a:extLst>
          </p:cNvPr>
          <p:cNvPicPr>
            <a:picLocks noChangeAspect="1"/>
          </p:cNvPicPr>
          <p:nvPr/>
        </p:nvPicPr>
        <p:blipFill>
          <a:blip r:embed="rId3"/>
          <a:stretch>
            <a:fillRect/>
          </a:stretch>
        </p:blipFill>
        <p:spPr>
          <a:xfrm>
            <a:off x="2859314" y="2974762"/>
            <a:ext cx="2560504" cy="2141678"/>
          </a:xfrm>
          <a:prstGeom prst="rect">
            <a:avLst/>
          </a:prstGeom>
        </p:spPr>
      </p:pic>
    </p:spTree>
    <p:extLst>
      <p:ext uri="{BB962C8B-B14F-4D97-AF65-F5344CB8AC3E}">
        <p14:creationId xmlns:p14="http://schemas.microsoft.com/office/powerpoint/2010/main" val="1279317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4FA9-AAC9-4097-AF83-ABF6F932BCD7}"/>
              </a:ext>
            </a:extLst>
          </p:cNvPr>
          <p:cNvSpPr>
            <a:spLocks noGrp="1"/>
          </p:cNvSpPr>
          <p:nvPr>
            <p:ph type="title"/>
          </p:nvPr>
        </p:nvSpPr>
        <p:spPr/>
        <p:txBody>
          <a:bodyPr/>
          <a:lstStyle/>
          <a:p>
            <a:r>
              <a:rPr lang="en-US" b="1" dirty="0">
                <a:latin typeface="Open Sans" panose="020B0606030504020204" pitchFamily="34" charset="0"/>
                <a:ea typeface="Open Sans" panose="020B0606030504020204" pitchFamily="34" charset="0"/>
                <a:cs typeface="Open Sans" panose="020B0606030504020204" pitchFamily="34" charset="0"/>
              </a:rPr>
              <a:t>Motor Neurons</a:t>
            </a:r>
          </a:p>
        </p:txBody>
      </p:sp>
      <p:sp>
        <p:nvSpPr>
          <p:cNvPr id="3" name="Content Placeholder 2">
            <a:extLst>
              <a:ext uri="{FF2B5EF4-FFF2-40B4-BE49-F238E27FC236}">
                <a16:creationId xmlns:a16="http://schemas.microsoft.com/office/drawing/2014/main" id="{6894C2F0-C0A2-4AE7-9CF8-B7B04742D8D5}"/>
              </a:ext>
            </a:extLst>
          </p:cNvPr>
          <p:cNvSpPr>
            <a:spLocks noGrp="1"/>
          </p:cNvSpPr>
          <p:nvPr>
            <p:ph idx="1"/>
          </p:nvPr>
        </p:nvSpPr>
        <p:spPr>
          <a:xfrm>
            <a:off x="519320" y="1283156"/>
            <a:ext cx="4380672" cy="3482888"/>
          </a:xfrm>
        </p:spPr>
        <p:txBody>
          <a:bodyPr/>
          <a:lstStyle/>
          <a:p>
            <a:pPr marL="114300" indent="0">
              <a:buNone/>
            </a:pP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There are two primary types of motor neurons:</a:t>
            </a:r>
          </a:p>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Upper motor neurons</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originating in a region of our brains called the motor cortex, send electrical signals (action potentials) to</a:t>
            </a: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lower motor neurons.</a:t>
            </a:r>
          </a:p>
          <a:p>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Lower motor neurons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rPr>
              <a:t>are attached to our muscles and act as direct messengers to tell them to start contracting.</a:t>
            </a:r>
          </a:p>
          <a:p>
            <a:pPr marL="0" indent="0">
              <a:buNone/>
            </a:pPr>
            <a:endParaRPr lang="en-US" dirty="0"/>
          </a:p>
        </p:txBody>
      </p:sp>
      <p:pic>
        <p:nvPicPr>
          <p:cNvPr id="5" name="Picture 4" descr="A close up of text on a white background&#10;&#10;Description automatically generated">
            <a:extLst>
              <a:ext uri="{FF2B5EF4-FFF2-40B4-BE49-F238E27FC236}">
                <a16:creationId xmlns:a16="http://schemas.microsoft.com/office/drawing/2014/main" id="{B473C2B9-C311-4A26-B25C-3B0D2D27AB3D}"/>
              </a:ext>
            </a:extLst>
          </p:cNvPr>
          <p:cNvPicPr>
            <a:picLocks noChangeAspect="1"/>
          </p:cNvPicPr>
          <p:nvPr/>
        </p:nvPicPr>
        <p:blipFill>
          <a:blip r:embed="rId3"/>
          <a:stretch>
            <a:fillRect/>
          </a:stretch>
        </p:blipFill>
        <p:spPr>
          <a:xfrm>
            <a:off x="5260019" y="492769"/>
            <a:ext cx="3255331" cy="4288415"/>
          </a:xfrm>
          <a:prstGeom prst="rect">
            <a:avLst/>
          </a:prstGeom>
        </p:spPr>
      </p:pic>
      <p:sp>
        <p:nvSpPr>
          <p:cNvPr id="4" name="Rectangle 3">
            <a:extLst>
              <a:ext uri="{FF2B5EF4-FFF2-40B4-BE49-F238E27FC236}">
                <a16:creationId xmlns:a16="http://schemas.microsoft.com/office/drawing/2014/main" id="{D133474A-DA58-E141-BB49-454D9A74F1CE}"/>
              </a:ext>
            </a:extLst>
          </p:cNvPr>
          <p:cNvSpPr/>
          <p:nvPr/>
        </p:nvSpPr>
        <p:spPr>
          <a:xfrm>
            <a:off x="5725346" y="4766044"/>
            <a:ext cx="2324675" cy="200055"/>
          </a:xfrm>
          <a:prstGeom prst="rect">
            <a:avLst/>
          </a:prstGeom>
        </p:spPr>
        <p:txBody>
          <a:bodyPr wrap="none">
            <a:spAutoFit/>
          </a:bodyPr>
          <a:lstStyle/>
          <a:p>
            <a:r>
              <a:rPr lang="en-US" sz="700" dirty="0">
                <a:solidFill>
                  <a:schemeClr val="tx1"/>
                </a:solidFill>
                <a:latin typeface="Open Sans" panose="020B0606030504020204" pitchFamily="34" charset="0"/>
                <a:ea typeface="Open Sans" panose="020B0606030504020204" pitchFamily="34" charset="0"/>
                <a:cs typeface="Open Sans" panose="020B0606030504020204" pitchFamily="34" charset="0"/>
              </a:rPr>
              <a:t>https://impremedia.net/diagram-of-motor-</a:t>
            </a:r>
            <a:r>
              <a:rPr lang="en-US" sz="7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neurone</a:t>
            </a:r>
            <a:endParaRPr lang="en-US" dirty="0"/>
          </a:p>
        </p:txBody>
      </p:sp>
      <p:pic>
        <p:nvPicPr>
          <p:cNvPr id="6" name="Picture 5" descr="A close up of text on a white background&#10;&#10;Description automatically generated">
            <a:extLst>
              <a:ext uri="{FF2B5EF4-FFF2-40B4-BE49-F238E27FC236}">
                <a16:creationId xmlns:a16="http://schemas.microsoft.com/office/drawing/2014/main" id="{0DD8FF53-DBC9-A461-68AB-AF0179F654BC}"/>
              </a:ext>
            </a:extLst>
          </p:cNvPr>
          <p:cNvPicPr>
            <a:picLocks noChangeAspect="1"/>
          </p:cNvPicPr>
          <p:nvPr/>
        </p:nvPicPr>
        <p:blipFill>
          <a:blip r:embed="rId4"/>
          <a:stretch>
            <a:fillRect/>
          </a:stretch>
        </p:blipFill>
        <p:spPr>
          <a:xfrm>
            <a:off x="7442528" y="1017725"/>
            <a:ext cx="1214985" cy="1016248"/>
          </a:xfrm>
          <a:prstGeom prst="rect">
            <a:avLst/>
          </a:prstGeom>
        </p:spPr>
      </p:pic>
    </p:spTree>
    <p:extLst>
      <p:ext uri="{BB962C8B-B14F-4D97-AF65-F5344CB8AC3E}">
        <p14:creationId xmlns:p14="http://schemas.microsoft.com/office/powerpoint/2010/main" val="126108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0610-4F76-498C-A38F-870B204AE63A}"/>
              </a:ext>
            </a:extLst>
          </p:cNvPr>
          <p:cNvSpPr>
            <a:spLocks noGrp="1"/>
          </p:cNvSpPr>
          <p:nvPr>
            <p:ph type="title"/>
          </p:nvPr>
        </p:nvSpPr>
        <p:spPr/>
        <p:txBody>
          <a:bodyPr/>
          <a:lstStyle/>
          <a:p>
            <a:r>
              <a:rPr lang="en-CA" b="1" dirty="0"/>
              <a:t>Motor Unit Recruitment</a:t>
            </a:r>
          </a:p>
        </p:txBody>
      </p:sp>
      <p:sp>
        <p:nvSpPr>
          <p:cNvPr id="3" name="Content Placeholder 2">
            <a:extLst>
              <a:ext uri="{FF2B5EF4-FFF2-40B4-BE49-F238E27FC236}">
                <a16:creationId xmlns:a16="http://schemas.microsoft.com/office/drawing/2014/main" id="{9FEF23F2-BA13-438C-994F-9FF0B1B68CD3}"/>
              </a:ext>
            </a:extLst>
          </p:cNvPr>
          <p:cNvSpPr>
            <a:spLocks noGrp="1"/>
          </p:cNvSpPr>
          <p:nvPr>
            <p:ph idx="1"/>
          </p:nvPr>
        </p:nvSpPr>
        <p:spPr/>
        <p:txBody>
          <a:bodyPr/>
          <a:lstStyle/>
          <a:p>
            <a:r>
              <a:rPr lang="en-CA" dirty="0">
                <a:solidFill>
                  <a:schemeClr val="tx1"/>
                </a:solidFill>
              </a:rPr>
              <a:t>Motor unit recruitment may be defined as "the successive activation of the same and additional motor units with increasing strength of voluntary muscle contraction."</a:t>
            </a:r>
            <a:r>
              <a:rPr lang="en-CA" baseline="30000" dirty="0">
                <a:solidFill>
                  <a:schemeClr val="tx1"/>
                </a:solidFill>
              </a:rPr>
              <a:t> </a:t>
            </a:r>
            <a:r>
              <a:rPr lang="en-CA" dirty="0">
                <a:solidFill>
                  <a:schemeClr val="tx1"/>
                </a:solidFill>
              </a:rPr>
              <a:t>The central nervous system can increase the strength of muscle contraction by the following:</a:t>
            </a:r>
          </a:p>
          <a:p>
            <a:pPr lvl="1"/>
            <a:r>
              <a:rPr lang="en-CA" dirty="0">
                <a:solidFill>
                  <a:schemeClr val="tx1"/>
                </a:solidFill>
              </a:rPr>
              <a:t>Increasing the number of active motor units (</a:t>
            </a:r>
            <a:r>
              <a:rPr lang="en-CA" dirty="0" err="1">
                <a:solidFill>
                  <a:schemeClr val="tx1"/>
                </a:solidFill>
              </a:rPr>
              <a:t>ie</a:t>
            </a:r>
            <a:r>
              <a:rPr lang="en-CA" dirty="0">
                <a:solidFill>
                  <a:schemeClr val="tx1"/>
                </a:solidFill>
              </a:rPr>
              <a:t>, spatial recruitment)</a:t>
            </a:r>
          </a:p>
          <a:p>
            <a:pPr lvl="1"/>
            <a:r>
              <a:rPr lang="en-CA" dirty="0">
                <a:solidFill>
                  <a:schemeClr val="tx1"/>
                </a:solidFill>
              </a:rPr>
              <a:t>Increasing the firing rate (firing frequency) at which individual motor units fire to optimize the summated tension generated (</a:t>
            </a:r>
            <a:r>
              <a:rPr lang="en-CA" dirty="0" err="1">
                <a:solidFill>
                  <a:schemeClr val="tx1"/>
                </a:solidFill>
              </a:rPr>
              <a:t>ie</a:t>
            </a:r>
            <a:r>
              <a:rPr lang="en-CA" dirty="0">
                <a:solidFill>
                  <a:schemeClr val="tx1"/>
                </a:solidFill>
              </a:rPr>
              <a:t>, temporal recruitment)</a:t>
            </a:r>
          </a:p>
          <a:p>
            <a:pPr marL="596900" lvl="1" indent="0">
              <a:buNone/>
            </a:pPr>
            <a:endParaRPr lang="en-CA" dirty="0">
              <a:solidFill>
                <a:schemeClr val="tx1"/>
              </a:solidFill>
            </a:endParaRPr>
          </a:p>
          <a:p>
            <a:r>
              <a:rPr lang="en-CA" dirty="0">
                <a:solidFill>
                  <a:schemeClr val="tx1"/>
                </a:solidFill>
              </a:rPr>
              <a:t>Both mechanisms occur concurrently.</a:t>
            </a:r>
          </a:p>
          <a:p>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75355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0AE8-AB06-9D95-EF28-F87BAD627B45}"/>
              </a:ext>
            </a:extLst>
          </p:cNvPr>
          <p:cNvSpPr>
            <a:spLocks noGrp="1"/>
          </p:cNvSpPr>
          <p:nvPr>
            <p:ph type="title"/>
          </p:nvPr>
        </p:nvSpPr>
        <p:spPr/>
        <p:txBody>
          <a:bodyPr/>
          <a:lstStyle/>
          <a:p>
            <a:r>
              <a:rPr lang="en-CA" b="1" dirty="0"/>
              <a:t>Order of Recruitment</a:t>
            </a:r>
            <a:br>
              <a:rPr lang="en-CA" b="1" dirty="0"/>
            </a:br>
            <a:br>
              <a:rPr lang="en-CA" dirty="0"/>
            </a:br>
            <a:br>
              <a:rPr lang="en-CA" dirty="0"/>
            </a:br>
            <a:endParaRPr lang="en-US" dirty="0"/>
          </a:p>
        </p:txBody>
      </p:sp>
      <p:sp>
        <p:nvSpPr>
          <p:cNvPr id="3" name="Content Placeholder 2">
            <a:extLst>
              <a:ext uri="{FF2B5EF4-FFF2-40B4-BE49-F238E27FC236}">
                <a16:creationId xmlns:a16="http://schemas.microsoft.com/office/drawing/2014/main" id="{0EE92030-0EDE-FCDC-4C5C-B3790B41A479}"/>
              </a:ext>
            </a:extLst>
          </p:cNvPr>
          <p:cNvSpPr>
            <a:spLocks noGrp="1"/>
          </p:cNvSpPr>
          <p:nvPr>
            <p:ph idx="1"/>
          </p:nvPr>
        </p:nvSpPr>
        <p:spPr/>
        <p:txBody>
          <a:bodyPr/>
          <a:lstStyle/>
          <a:p>
            <a:r>
              <a:rPr lang="en-CA" dirty="0">
                <a:solidFill>
                  <a:schemeClr val="tx1"/>
                </a:solidFill>
              </a:rPr>
              <a:t>As a general rule, motor units are recruited in order of their size. </a:t>
            </a:r>
            <a:endParaRPr lang="en-US" dirty="0">
              <a:solidFill>
                <a:schemeClr val="tx1"/>
              </a:solidFill>
            </a:endParaRPr>
          </a:p>
        </p:txBody>
      </p:sp>
      <p:pic>
        <p:nvPicPr>
          <p:cNvPr id="4" name="Picture 3">
            <a:extLst>
              <a:ext uri="{FF2B5EF4-FFF2-40B4-BE49-F238E27FC236}">
                <a16:creationId xmlns:a16="http://schemas.microsoft.com/office/drawing/2014/main" id="{51A9074F-078E-06F0-D664-8263C267F45A}"/>
              </a:ext>
            </a:extLst>
          </p:cNvPr>
          <p:cNvPicPr>
            <a:picLocks noChangeAspect="1"/>
          </p:cNvPicPr>
          <p:nvPr/>
        </p:nvPicPr>
        <p:blipFill>
          <a:blip r:embed="rId2"/>
          <a:stretch>
            <a:fillRect/>
          </a:stretch>
        </p:blipFill>
        <p:spPr>
          <a:xfrm>
            <a:off x="311700" y="1599408"/>
            <a:ext cx="5935717" cy="3544092"/>
          </a:xfrm>
          <a:prstGeom prst="rect">
            <a:avLst/>
          </a:prstGeom>
        </p:spPr>
      </p:pic>
      <p:sp>
        <p:nvSpPr>
          <p:cNvPr id="5" name="TextBox 4">
            <a:extLst>
              <a:ext uri="{FF2B5EF4-FFF2-40B4-BE49-F238E27FC236}">
                <a16:creationId xmlns:a16="http://schemas.microsoft.com/office/drawing/2014/main" id="{E8AA8E0E-C070-6903-0A6A-4405543EADC3}"/>
              </a:ext>
            </a:extLst>
          </p:cNvPr>
          <p:cNvSpPr txBox="1"/>
          <p:nvPr/>
        </p:nvSpPr>
        <p:spPr>
          <a:xfrm>
            <a:off x="6247417" y="2120113"/>
            <a:ext cx="2731838" cy="523220"/>
          </a:xfrm>
          <a:prstGeom prst="rect">
            <a:avLst/>
          </a:prstGeom>
          <a:noFill/>
        </p:spPr>
        <p:txBody>
          <a:bodyPr wrap="square" rtlCol="0">
            <a:spAutoFit/>
          </a:bodyPr>
          <a:lstStyle/>
          <a:p>
            <a:r>
              <a:rPr lang="en-US" dirty="0"/>
              <a:t>This fibers are not 100% in sync = very ‘fast messy signal’</a:t>
            </a:r>
          </a:p>
        </p:txBody>
      </p:sp>
      <p:pic>
        <p:nvPicPr>
          <p:cNvPr id="6" name="Picture 5">
            <a:extLst>
              <a:ext uri="{FF2B5EF4-FFF2-40B4-BE49-F238E27FC236}">
                <a16:creationId xmlns:a16="http://schemas.microsoft.com/office/drawing/2014/main" id="{F39C3E90-AF02-DB8A-44AB-3A44767BAF86}"/>
              </a:ext>
            </a:extLst>
          </p:cNvPr>
          <p:cNvPicPr>
            <a:picLocks noChangeAspect="1"/>
          </p:cNvPicPr>
          <p:nvPr/>
        </p:nvPicPr>
        <p:blipFill>
          <a:blip r:embed="rId3"/>
          <a:stretch>
            <a:fillRect/>
          </a:stretch>
        </p:blipFill>
        <p:spPr>
          <a:xfrm>
            <a:off x="6350696" y="4255421"/>
            <a:ext cx="2586613" cy="626908"/>
          </a:xfrm>
          <a:prstGeom prst="rect">
            <a:avLst/>
          </a:prstGeom>
        </p:spPr>
      </p:pic>
      <p:pic>
        <p:nvPicPr>
          <p:cNvPr id="7" name="Picture 6">
            <a:extLst>
              <a:ext uri="{FF2B5EF4-FFF2-40B4-BE49-F238E27FC236}">
                <a16:creationId xmlns:a16="http://schemas.microsoft.com/office/drawing/2014/main" id="{30B22C9C-7DF7-0657-E157-41A56DC5B592}"/>
              </a:ext>
            </a:extLst>
          </p:cNvPr>
          <p:cNvPicPr>
            <a:picLocks noChangeAspect="1"/>
          </p:cNvPicPr>
          <p:nvPr/>
        </p:nvPicPr>
        <p:blipFill>
          <a:blip r:embed="rId4"/>
          <a:stretch>
            <a:fillRect/>
          </a:stretch>
        </p:blipFill>
        <p:spPr>
          <a:xfrm>
            <a:off x="7110204" y="2820007"/>
            <a:ext cx="859308" cy="1171018"/>
          </a:xfrm>
          <a:prstGeom prst="rect">
            <a:avLst/>
          </a:prstGeom>
        </p:spPr>
      </p:pic>
    </p:spTree>
    <p:extLst>
      <p:ext uri="{BB962C8B-B14F-4D97-AF65-F5344CB8AC3E}">
        <p14:creationId xmlns:p14="http://schemas.microsoft.com/office/powerpoint/2010/main" val="370610425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552</Words>
  <Application>Microsoft Macintosh PowerPoint</Application>
  <PresentationFormat>On-screen Show (16:9)</PresentationFormat>
  <Paragraphs>43</Paragraphs>
  <Slides>9</Slides>
  <Notes>6</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Open Sans</vt:lpstr>
      <vt:lpstr>Simple Light</vt:lpstr>
      <vt:lpstr>ElectroMioGraphy</vt:lpstr>
      <vt:lpstr>What is an EMG?</vt:lpstr>
      <vt:lpstr>What does an EMG measure?</vt:lpstr>
      <vt:lpstr>EMG Waves</vt:lpstr>
      <vt:lpstr>EMG Waves</vt:lpstr>
      <vt:lpstr>What is a motor neuron?</vt:lpstr>
      <vt:lpstr>Motor Neurons</vt:lpstr>
      <vt:lpstr>Motor Unit Recruitment</vt:lpstr>
      <vt:lpstr>Order of Recruitment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Dua Chaker</dc:creator>
  <cp:lastModifiedBy>Santiago Flores Alonso</cp:lastModifiedBy>
  <cp:revision>22</cp:revision>
  <dcterms:modified xsi:type="dcterms:W3CDTF">2026-07-09T04:09:38Z</dcterms:modified>
</cp:coreProperties>
</file>